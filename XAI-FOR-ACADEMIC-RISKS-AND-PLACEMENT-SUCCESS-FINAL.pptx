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1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embeddedFontLst>
    <p:embeddedFont>
      <p:font typeface="Barlow" charset="0"/>
      <p:regular r:id="rId17"/>
    </p:embeddedFont>
    <p:embeddedFont>
      <p:font typeface="Spline Sans Bold" charset="0"/>
      <p:regular r:id="rId18"/>
    </p:embeddedFont>
    <p:embeddedFont>
      <p:font typeface="Calibri" pitchFamily="34" charset="0"/>
      <p:regular r:id="rId19"/>
      <p:bold r:id="rId20"/>
      <p:italic r:id="rId21"/>
      <p:bold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516" y="-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AFCBA3-5879-4347-98CC-89FE2438D965}" type="datetimeFigureOut">
              <a:rPr lang="en-IN" smtClean="0"/>
              <a:t>29-06-2026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660A1-E5AE-46C0-AE66-F675C3F80DC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175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solidFill>
                  <a:prstClr val="black"/>
                </a:solidFill>
              </a:rPr>
              <a:pPr/>
              <a:t>10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-3-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-3-9.svg"/><Relationship Id="rId5" Type="http://schemas.openxmlformats.org/officeDocument/2006/relationships/image" Target="../media/image-3-3.sv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-3-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-1-13.svg"/><Relationship Id="rId18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12" Type="http://schemas.openxmlformats.org/officeDocument/2006/relationships/image" Target="../media/image30.png"/><Relationship Id="rId17" Type="http://schemas.openxmlformats.org/officeDocument/2006/relationships/image" Target="../media/image-1-17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11" Type="http://schemas.openxmlformats.org/officeDocument/2006/relationships/image" Target="../media/image-1-11.svg"/><Relationship Id="rId5" Type="http://schemas.openxmlformats.org/officeDocument/2006/relationships/image" Target="../media/image24.png"/><Relationship Id="rId15" Type="http://schemas.openxmlformats.org/officeDocument/2006/relationships/image" Target="../media/image-1-15.svg"/><Relationship Id="rId10" Type="http://schemas.openxmlformats.org/officeDocument/2006/relationships/image" Target="../media/image29.png"/><Relationship Id="rId19" Type="http://schemas.openxmlformats.org/officeDocument/2006/relationships/image" Target="../media/image34.png"/><Relationship Id="rId4" Type="http://schemas.openxmlformats.org/officeDocument/2006/relationships/image" Target="../media/image-1-2.svg"/><Relationship Id="rId9" Type="http://schemas.openxmlformats.org/officeDocument/2006/relationships/image" Target="../media/image28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5.png"/><Relationship Id="rId7" Type="http://schemas.openxmlformats.org/officeDocument/2006/relationships/image" Target="../media/image-1-5.sv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11" Type="http://schemas.openxmlformats.org/officeDocument/2006/relationships/image" Target="../media/image-1-9.svg"/><Relationship Id="rId5" Type="http://schemas.openxmlformats.org/officeDocument/2006/relationships/image" Target="../media/image-1-3.svg"/><Relationship Id="rId10" Type="http://schemas.openxmlformats.org/officeDocument/2006/relationships/image" Target="../media/image39.png"/><Relationship Id="rId4" Type="http://schemas.openxmlformats.org/officeDocument/2006/relationships/image" Target="../media/image36.png"/><Relationship Id="rId9" Type="http://schemas.openxmlformats.org/officeDocument/2006/relationships/image" Target="../media/image-1-7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-1-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11" Type="http://schemas.openxmlformats.org/officeDocument/2006/relationships/image" Target="../media/image-1-9.svg"/><Relationship Id="rId5" Type="http://schemas.openxmlformats.org/officeDocument/2006/relationships/image" Target="../media/image-1-3.svg"/><Relationship Id="rId10" Type="http://schemas.openxmlformats.org/officeDocument/2006/relationships/image" Target="../media/image45.png"/><Relationship Id="rId4" Type="http://schemas.openxmlformats.org/officeDocument/2006/relationships/image" Target="../media/image42.png"/><Relationship Id="rId9" Type="http://schemas.openxmlformats.org/officeDocument/2006/relationships/image" Target="../media/image-1-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6086" y="1899444"/>
            <a:ext cx="6151409" cy="1165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XAI FOR ACADEMIC RISKS AND PLACEMENT SUCCESS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5306086" y="3379490"/>
            <a:ext cx="6151409" cy="1578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spcAft>
                <a:spcPts val="1850"/>
              </a:spcAft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Utilizing Explainable Artificial Intelligence to predict student success and mitigate academic risks. </a:t>
            </a:r>
            <a:endParaRPr lang="en-US" sz="16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Focus: enhancing transparency and trust in AI-driven student outcome predictions for faculty-driven interventions.</a:t>
            </a:r>
            <a:endParaRPr lang="en-US" sz="1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631" y="1819870"/>
            <a:ext cx="4829793" cy="42995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6086" y="725984"/>
            <a:ext cx="6151409" cy="838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Problem Statement &amp; Requirement Gathering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5306086" y="1819870"/>
            <a:ext cx="2990775" cy="2501503"/>
          </a:xfrm>
          <a:prstGeom prst="roundRect">
            <a:avLst>
              <a:gd name="adj" fmla="val 11322"/>
            </a:avLst>
          </a:prstGeom>
          <a:solidFill>
            <a:srgbClr val="0A081B"/>
          </a:solidFill>
          <a:ln w="19050">
            <a:solidFill>
              <a:srgbClr val="16FFB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513944" y="2027734"/>
            <a:ext cx="2097928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The Problem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513944" y="2391866"/>
            <a:ext cx="2575059" cy="1721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Traditional ML models act as black boxes, leaving faculty without clear reasons for why a student is flagged at risk — reducing trust and slowing intervention.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8466719" y="1819870"/>
            <a:ext cx="2990775" cy="2501503"/>
          </a:xfrm>
          <a:prstGeom prst="roundRect">
            <a:avLst>
              <a:gd name="adj" fmla="val 11322"/>
            </a:avLst>
          </a:prstGeom>
          <a:solidFill>
            <a:srgbClr val="0A081B"/>
          </a:solidFill>
          <a:ln w="19050">
            <a:solidFill>
              <a:srgbClr val="29DD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74578" y="2027734"/>
            <a:ext cx="2097928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The Need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674578" y="2391866"/>
            <a:ext cx="2575059" cy="1721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 XAI system that delivers clear, local explanations (why this student?) and global model insights (what features drive risk) to power timely, evidence-based faculty actions.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306086" y="4491236"/>
            <a:ext cx="6151409" cy="1640681"/>
          </a:xfrm>
          <a:prstGeom prst="roundRect">
            <a:avLst>
              <a:gd name="adj" fmla="val 17263"/>
            </a:avLst>
          </a:prstGeom>
          <a:solidFill>
            <a:srgbClr val="0A081B"/>
          </a:solidFill>
          <a:ln w="19050">
            <a:solidFill>
              <a:srgbClr val="37A7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13944" y="4699099"/>
            <a:ext cx="2097928" cy="262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Data Requirements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5513944" y="5063232"/>
            <a:ext cx="5735692" cy="860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Student academic history, technical skill assessments, attendance, behavioral indicators, placement outcomes, and relevant metadata (program, cohort).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5609" y="1312986"/>
            <a:ext cx="4942976" cy="4525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1145084"/>
            <a:ext cx="3593316" cy="372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Project Objectives</a:t>
            </a:r>
            <a:endParaRPr lang="en-US" sz="23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734200" y="1719263"/>
            <a:ext cx="419586" cy="41959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321561" y="1719263"/>
            <a:ext cx="1864869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Risk Identification</a:t>
            </a:r>
            <a:endParaRPr lang="en-US" sz="1450" dirty="0"/>
          </a:p>
        </p:txBody>
      </p:sp>
      <p:sp>
        <p:nvSpPr>
          <p:cNvPr id="6" name="Text 2"/>
          <p:cNvSpPr/>
          <p:nvPr/>
        </p:nvSpPr>
        <p:spPr>
          <a:xfrm>
            <a:off x="1321561" y="2032893"/>
            <a:ext cx="5564048" cy="483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Develop an XAI-integrated model (e.g., XGBoost) to identify students at academic risk with high sensitivity and interpretable outputs.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734200" y="2784773"/>
            <a:ext cx="419586" cy="4195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321561" y="2784773"/>
            <a:ext cx="189086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Placement Prediction</a:t>
            </a:r>
            <a:endParaRPr lang="en-US" sz="1450" dirty="0"/>
          </a:p>
        </p:txBody>
      </p:sp>
      <p:sp>
        <p:nvSpPr>
          <p:cNvPr id="9" name="Text 4"/>
          <p:cNvSpPr/>
          <p:nvPr/>
        </p:nvSpPr>
        <p:spPr>
          <a:xfrm>
            <a:off x="1321561" y="3098403"/>
            <a:ext cx="5564048" cy="483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Predict placement success using multidimensional features to guide placement assistance and tailored coaching.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734200" y="3850283"/>
            <a:ext cx="419586" cy="41959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21561" y="3850283"/>
            <a:ext cx="1864869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Explainability</a:t>
            </a:r>
            <a:endParaRPr lang="en-US" sz="1450" dirty="0"/>
          </a:p>
        </p:txBody>
      </p:sp>
      <p:sp>
        <p:nvSpPr>
          <p:cNvPr id="12" name="Text 6"/>
          <p:cNvSpPr/>
          <p:nvPr/>
        </p:nvSpPr>
        <p:spPr>
          <a:xfrm>
            <a:off x="1321561" y="4163913"/>
            <a:ext cx="5564048" cy="483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Provide local explanations using SHAP/LIME and global feature importance to justify individual predictions and model behavior.</a:t>
            </a:r>
            <a:endParaRPr lang="en-US" sz="13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734200" y="4915793"/>
            <a:ext cx="419586" cy="41959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321561" y="4915793"/>
            <a:ext cx="1864869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Faculty Dashboard</a:t>
            </a:r>
            <a:endParaRPr lang="en-US" sz="1450" dirty="0"/>
          </a:p>
        </p:txBody>
      </p:sp>
      <p:sp>
        <p:nvSpPr>
          <p:cNvPr id="15" name="Text 8"/>
          <p:cNvSpPr/>
          <p:nvPr/>
        </p:nvSpPr>
        <p:spPr>
          <a:xfrm>
            <a:off x="1321561" y="5229423"/>
            <a:ext cx="5564048" cy="483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Build an intuitive dashboard surfacing risk alerts, explanations, and recommended interventions for faculty action.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766826"/>
            <a:ext cx="4455605" cy="39540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571589" y="1275854"/>
            <a:ext cx="5575458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User &amp; Module Identification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571589" y="1951732"/>
            <a:ext cx="5892057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Primary users: </a:t>
            </a:r>
            <a:r>
              <a:rPr lang="en-US" sz="16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System Admin</a:t>
            </a: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(management, configuration) and </a:t>
            </a:r>
            <a:r>
              <a:rPr lang="en-US" sz="16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Faculty</a:t>
            </a: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(monitoring, intervention).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5571589" y="2812058"/>
            <a:ext cx="5892057" cy="2906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User Authentication — secure login/logout with role-based access.</a:t>
            </a:r>
            <a:endParaRPr lang="en-US" sz="16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 Ingestion — batch and incremental import of student datasets with validation.</a:t>
            </a:r>
            <a:endParaRPr lang="en-US" sz="16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XAI Prediction Engine — XGBoost model plus explanation layer (SHAP/LIME) and logging.</a:t>
            </a:r>
            <a:endParaRPr lang="en-US" sz="165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Faculty Dashboard — visualization of at-risk cohorts, individual explanations, and intervention tracking.</a:t>
            </a:r>
            <a:endParaRPr lang="en-US" sz="1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90874" y="478036"/>
            <a:ext cx="3465128" cy="3568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Use Case Diagram</a:t>
            </a:r>
            <a:endParaRPr lang="en-US" sz="2200" dirty="0"/>
          </a:p>
        </p:txBody>
      </p:sp>
      <p:pic>
        <p:nvPicPr>
          <p:cNvPr id="3" name="Image 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1" y="1033997"/>
            <a:ext cx="7889630" cy="44802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02883" y="3022322"/>
            <a:ext cx="1580397" cy="197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243618" y="3283095"/>
            <a:ext cx="1698927" cy="313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2000"/>
              </a:lnSpc>
              <a:buNone/>
            </a:pP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056725" y="2097150"/>
            <a:ext cx="1580397" cy="197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7078" y="2357922"/>
            <a:ext cx="1959693" cy="156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541139" y="4309761"/>
            <a:ext cx="1580397" cy="197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351491" y="4570533"/>
            <a:ext cx="1959693" cy="156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762394" y="1662529"/>
            <a:ext cx="1580397" cy="197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572747" y="1923301"/>
            <a:ext cx="1959693" cy="156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35460" y="4665359"/>
            <a:ext cx="1748685" cy="197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630018" y="4926131"/>
            <a:ext cx="1959693" cy="156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90874" y="5699423"/>
            <a:ext cx="8209849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This diagram outlines functional requirements and system interactions. It clarifies responsibilities: Admin configures data and permissions; Faculty uploads/inspects data, triggers predictions, reviews local explanations, and initiates interventions or reports.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6319679" y="1469430"/>
            <a:ext cx="5412644" cy="396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Database Analysis &amp; ER Diagram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6319679" y="2017117"/>
            <a:ext cx="5144066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Key tables and relationships designed for traceability and auditability: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319679" y="2681089"/>
            <a:ext cx="5144066" cy="2058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4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User</a:t>
            </a: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authentication, role, audit trails.</a:t>
            </a:r>
            <a:endParaRPr lang="en-US" sz="140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4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Student_Profile</a:t>
            </a: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unique identifiers, demographics, program.</a:t>
            </a:r>
            <a:endParaRPr lang="en-US" sz="140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4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Academic_Records</a:t>
            </a: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term grades, course-level performance.</a:t>
            </a:r>
            <a:endParaRPr lang="en-US" sz="140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4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Placement_History</a:t>
            </a: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interviews, offers, placements, employer feedback.</a:t>
            </a:r>
            <a:endParaRPr lang="en-US" sz="1400" dirty="0"/>
          </a:p>
          <a:p>
            <a:pPr marL="342900" indent="-342900" algn="l">
              <a:lnSpc>
                <a:spcPct val="123000"/>
              </a:lnSpc>
              <a:buSzPct val="100000"/>
              <a:buChar char="•"/>
            </a:pPr>
            <a:r>
              <a:rPr lang="en-US" sz="14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Prediction_Results</a:t>
            </a: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model outputs, SHAP values, timestamped logs.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319679" y="4876105"/>
            <a:ext cx="5144066" cy="527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Relationship logic maps temporal performance to placement eligibility and stores explanation vectors for retrospective analysis.</a:t>
            </a:r>
            <a:endParaRPr lang="en-US" sz="1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2400" y="996462"/>
            <a:ext cx="5662246" cy="502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00" y="1530152"/>
            <a:ext cx="3797602" cy="379769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24332" y="912912"/>
            <a:ext cx="4555813" cy="442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Database Schema (SQL)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5224332" y="1545034"/>
            <a:ext cx="6848899" cy="31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Schema designed for efficient retrieval and integrity: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5224332" y="2026345"/>
            <a:ext cx="6239314" cy="2309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5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Student_Profile</a:t>
            </a: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student_id (PK), program, cohort, cgpa, technical_scores.</a:t>
            </a:r>
            <a:endParaRPr lang="en-US" sz="155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5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Auth_Table</a:t>
            </a: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user_id (PK), username, password_hash (bcrypt/argon2), role, last_login.</a:t>
            </a:r>
            <a:endParaRPr lang="en-US" sz="1550" dirty="0"/>
          </a:p>
          <a:p>
            <a:pPr marL="342900" indent="-342900" algn="l">
              <a:lnSpc>
                <a:spcPct val="130000"/>
              </a:lnSpc>
              <a:buSzPct val="100000"/>
              <a:buChar char="•"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Normalized tables separate time-series academic records from static profile data to optimize prediction queries and storage of feature snapshots.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224332" y="4548287"/>
            <a:ext cx="6239314" cy="1373188"/>
          </a:xfrm>
          <a:prstGeom prst="roundRect">
            <a:avLst>
              <a:gd name="adj" fmla="val 21772"/>
            </a:avLst>
          </a:prstGeom>
          <a:solidFill>
            <a:srgbClr val="022349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3558" y="4851598"/>
            <a:ext cx="249132" cy="19923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71916" y="4768453"/>
            <a:ext cx="5392503" cy="9328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Ensure encryption-at-rest for sensitive fields and role-based data access to comply with institutional privacy policies (FERPA-aware).</a:t>
            </a:r>
            <a:endParaRPr lang="en-US" sz="15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300" y="1484412"/>
            <a:ext cx="5864475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UI Wireframes &amp; Page Layouts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34300" y="2370138"/>
            <a:ext cx="11332681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Design philosophy: minimalist, data-first, and faculty-centric. Key pages:</a:t>
            </a:r>
            <a:endParaRPr lang="en-US" sz="16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00" y="2941836"/>
            <a:ext cx="985813" cy="6092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82341" y="2941836"/>
            <a:ext cx="215150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Login Portal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982341" y="3359051"/>
            <a:ext cx="2151505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Secure, role-aware entry point with MFA option and audit logging.</a:t>
            </a:r>
            <a:endParaRPr lang="en-US" sz="16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074" y="2941836"/>
            <a:ext cx="985813" cy="6092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44116" y="2941836"/>
            <a:ext cx="215150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Dashboard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644116" y="3359051"/>
            <a:ext cx="2151505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At-a-glance metrics, cohort filters, and prioritized risk queue for rapid triage.</a:t>
            </a:r>
            <a:endParaRPr lang="en-US" sz="16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7849" y="2941836"/>
            <a:ext cx="985813" cy="60920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05891" y="2941836"/>
            <a:ext cx="2151505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Result Details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9305891" y="3359051"/>
            <a:ext cx="2151505" cy="20145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Individual prediction probability, top contributing features, recommended interventions, and exportable report.</a:t>
            </a:r>
            <a:endParaRPr lang="en-US" sz="16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21" t="4223" r="16044" b="19527"/>
          <a:stretch/>
        </p:blipFill>
        <p:spPr>
          <a:xfrm>
            <a:off x="381000" y="558800"/>
            <a:ext cx="4735784" cy="26543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73295" y="904280"/>
            <a:ext cx="5690450" cy="838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Implementation: Login &amp; Faculty Dashboard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5773295" y="1913136"/>
            <a:ext cx="6300035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Current status and tech choices: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5773295" y="2352973"/>
            <a:ext cx="5690450" cy="2127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4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Status:</a:t>
            </a: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Authentication and dashboard UI developed; integration with backend in progress.</a:t>
            </a:r>
            <a:endParaRPr lang="en-US" sz="145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4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Tech Stack:</a:t>
            </a: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Django templates, Django REST endpoints, Bootstrap 5 for responsive layout, PostgreSQL for relational storage.</a:t>
            </a:r>
            <a:endParaRPr lang="en-US" sz="1450" dirty="0"/>
          </a:p>
          <a:p>
            <a:pPr marL="342900" indent="-342900" algn="l">
              <a:lnSpc>
                <a:spcPct val="127000"/>
              </a:lnSpc>
              <a:buSzPct val="100000"/>
              <a:buChar char="•"/>
            </a:pPr>
            <a:r>
              <a:rPr lang="en-US" sz="145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Integration:</a:t>
            </a: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Backend prediction pipeline (batch &amp; API) linked to frontend; CI/CD via GitHub; unit tests for data ingestion and model inference.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773295" y="4671516"/>
            <a:ext cx="5690450" cy="1260872"/>
          </a:xfrm>
          <a:prstGeom prst="roundRect">
            <a:avLst>
              <a:gd name="adj" fmla="val 22463"/>
            </a:avLst>
          </a:prstGeom>
          <a:solidFill>
            <a:srgbClr val="004D36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2104" y="4958060"/>
            <a:ext cx="235936" cy="18881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86849" y="4871541"/>
            <a:ext cx="4888088" cy="8608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Next: instrument explainability logs, refine SHAP visualizations, and run pilot with a faculty cohort for feedback.</a:t>
            </a:r>
            <a:endParaRPr lang="en-US" sz="145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27" b="23451"/>
          <a:stretch/>
        </p:blipFill>
        <p:spPr>
          <a:xfrm>
            <a:off x="419099" y="3733800"/>
            <a:ext cx="4762501" cy="26797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19" y="567923"/>
            <a:ext cx="4793381" cy="263729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" y="3747696"/>
            <a:ext cx="4749800" cy="265310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09765" y="640358"/>
            <a:ext cx="5291700" cy="2604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Phase II — ML Integration &amp; Real-time Prediction</a:t>
            </a:r>
            <a:endParaRPr lang="en-US" sz="1600" dirty="0">
              <a:solidFill>
                <a:prstClr val="black"/>
              </a:solidFill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72271" y="1024930"/>
            <a:ext cx="74908" cy="749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09765" y="1257301"/>
            <a:ext cx="2509279" cy="253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Model Training &amp; Design</a:t>
            </a:r>
            <a:endParaRPr lang="en-US" sz="1400" dirty="0">
              <a:solidFill>
                <a:prstClr val="black"/>
              </a:solidFill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0659" y="1590377"/>
            <a:ext cx="251612" cy="31452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713664" y="1536701"/>
            <a:ext cx="1107750" cy="241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Model Implementation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2705100" y="1701801"/>
            <a:ext cx="2870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6000"/>
              </a:lnSpc>
            </a:pPr>
            <a:r>
              <a:rPr lang="en-US" sz="10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Finalized predictive model using optimized algorithms (Random Forest / XGBoost)</a:t>
            </a:r>
            <a:endParaRPr lang="en-US" sz="1050" dirty="0">
              <a:solidFill>
                <a:prstClr val="black"/>
              </a:solidFill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4523" y="2454077"/>
            <a:ext cx="251612" cy="31452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30500" y="2247900"/>
            <a:ext cx="162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Model Persistence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12" name="Text 7"/>
          <p:cNvSpPr/>
          <p:nvPr/>
        </p:nvSpPr>
        <p:spPr>
          <a:xfrm>
            <a:off x="2688264" y="2425700"/>
            <a:ext cx="25949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6000"/>
              </a:lnSpc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Serialized trained model with joblib into a .pkl for production loading</a:t>
            </a:r>
            <a:endParaRPr lang="en-US" sz="1000" dirty="0">
              <a:solidFill>
                <a:prstClr val="black"/>
              </a:solidFill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0659" y="3178372"/>
            <a:ext cx="251612" cy="31452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713664" y="3035300"/>
            <a:ext cx="10416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UI/UX Refinement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15" name="Text 9"/>
          <p:cNvSpPr/>
          <p:nvPr/>
        </p:nvSpPr>
        <p:spPr>
          <a:xfrm>
            <a:off x="2713664" y="3225800"/>
            <a:ext cx="2531436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6000"/>
              </a:lnSpc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Polished navigation, input forms and layout for the Student Placement Dashboard</a:t>
            </a:r>
            <a:endParaRPr lang="en-US" sz="1000" dirty="0">
              <a:solidFill>
                <a:prstClr val="black"/>
              </a:solidFill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0659" y="3797697"/>
            <a:ext cx="251612" cy="31452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734951" y="3746500"/>
            <a:ext cx="1041672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9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Design Review</a:t>
            </a:r>
            <a:endParaRPr lang="en-US" sz="900" dirty="0">
              <a:solidFill>
                <a:prstClr val="black"/>
              </a:solidFill>
            </a:endParaRPr>
          </a:p>
        </p:txBody>
      </p:sp>
      <p:sp>
        <p:nvSpPr>
          <p:cNvPr id="18" name="Text 11"/>
          <p:cNvSpPr/>
          <p:nvPr/>
        </p:nvSpPr>
        <p:spPr>
          <a:xfrm>
            <a:off x="2688264" y="3886201"/>
            <a:ext cx="3314451" cy="2920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6000"/>
              </a:lnSpc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Comprehensive review for input consistency and usability</a:t>
            </a:r>
            <a:endParaRPr lang="en-US" sz="1000" dirty="0">
              <a:solidFill>
                <a:prstClr val="black"/>
              </a:solidFill>
            </a:endParaRPr>
          </a:p>
        </p:txBody>
      </p:sp>
      <p:sp>
        <p:nvSpPr>
          <p:cNvPr id="19" name="Text 12"/>
          <p:cNvSpPr/>
          <p:nvPr/>
        </p:nvSpPr>
        <p:spPr>
          <a:xfrm>
            <a:off x="6216395" y="1229221"/>
            <a:ext cx="2456099" cy="208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4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Backend &amp; Deployment</a:t>
            </a:r>
            <a:r>
              <a:rPr lang="en-US" sz="13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 </a:t>
            </a:r>
            <a:endParaRPr lang="en-US" sz="1300" dirty="0">
              <a:solidFill>
                <a:prstClr val="black"/>
              </a:solidFill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216395" y="1508125"/>
            <a:ext cx="3571686" cy="11708"/>
          </a:xfrm>
          <a:prstGeom prst="roundRect">
            <a:avLst>
              <a:gd name="adj" fmla="val 1201155"/>
            </a:avLst>
          </a:prstGeom>
          <a:solidFill>
            <a:srgbClr val="E0E4E6">
              <a:alpha val="50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6216395" y="1590377"/>
            <a:ext cx="1651256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Tech Stack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22" name="Shape 15"/>
          <p:cNvSpPr/>
          <p:nvPr/>
        </p:nvSpPr>
        <p:spPr>
          <a:xfrm>
            <a:off x="6216395" y="1791097"/>
            <a:ext cx="3571686" cy="11708"/>
          </a:xfrm>
          <a:prstGeom prst="roundRect">
            <a:avLst>
              <a:gd name="adj" fmla="val 1201155"/>
            </a:avLst>
          </a:prstGeom>
          <a:solidFill>
            <a:srgbClr val="E0E4E6">
              <a:alpha val="50000"/>
            </a:srgbClr>
          </a:solidFill>
          <a:ln/>
        </p:spPr>
      </p:sp>
      <p:sp>
        <p:nvSpPr>
          <p:cNvPr id="23" name="Text 16"/>
          <p:cNvSpPr/>
          <p:nvPr/>
        </p:nvSpPr>
        <p:spPr>
          <a:xfrm>
            <a:off x="6216395" y="1873349"/>
            <a:ext cx="2005260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Quick Implementation Notes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6216395" y="2045394"/>
            <a:ext cx="3571686" cy="10407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96000"/>
              </a:lnSpc>
              <a:buSzPct val="100000"/>
              <a:buFontTx/>
              <a:buChar char="•"/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Model API: load .pkl at app start, cache for low-latency inference</a:t>
            </a:r>
            <a:endParaRPr lang="en-US" sz="700" dirty="0">
              <a:solidFill>
                <a:prstClr val="black"/>
              </a:solidFill>
            </a:endParaRPr>
          </a:p>
          <a:p>
            <a:pPr marL="342900" indent="-342900">
              <a:lnSpc>
                <a:spcPct val="96000"/>
              </a:lnSpc>
              <a:buSzPct val="100000"/>
              <a:buFontTx/>
              <a:buChar char="•"/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Input validation: normalize CGPA &amp; Attendance; reject out-of-range values</a:t>
            </a:r>
            <a:endParaRPr lang="en-US" sz="700" dirty="0">
              <a:solidFill>
                <a:prstClr val="black"/>
              </a:solidFill>
            </a:endParaRPr>
          </a:p>
          <a:p>
            <a:pPr marL="342900" indent="-342900">
              <a:lnSpc>
                <a:spcPct val="96000"/>
              </a:lnSpc>
              <a:buSzPct val="100000"/>
              <a:buFontTx/>
              <a:buChar char="•"/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Monitoring: log predictions + input features for model drift detection</a:t>
            </a:r>
            <a:endParaRPr lang="en-US" sz="700" dirty="0">
              <a:solidFill>
                <a:prstClr val="black"/>
              </a:solidFill>
            </a:endParaRPr>
          </a:p>
          <a:p>
            <a:pPr marL="342900" indent="-342900">
              <a:lnSpc>
                <a:spcPct val="96000"/>
              </a:lnSpc>
              <a:buSzPct val="100000"/>
              <a:buFontTx/>
              <a:buChar char="•"/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Rollback: keep previous model commit tag for safe rollback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216395" y="3893840"/>
            <a:ext cx="3571686" cy="339130"/>
          </a:xfrm>
          <a:prstGeom prst="roundRect">
            <a:avLst>
              <a:gd name="adj" fmla="val 41468"/>
            </a:avLst>
          </a:prstGeom>
          <a:solidFill>
            <a:srgbClr val="004D36"/>
          </a:solidFill>
          <a:ln/>
        </p:spPr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0055" y="4017863"/>
            <a:ext cx="117174" cy="9366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6520890" y="3954959"/>
            <a:ext cx="3173532" cy="216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96000"/>
              </a:lnSpc>
            </a:pPr>
            <a:r>
              <a:rPr lang="en-US" sz="7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       Deployment priorities: reliability, real-time latency, and reproducibility. Use CI to run inference smoke tests on each push.       </a:t>
            </a:r>
            <a:endParaRPr lang="en-US" sz="700" dirty="0">
              <a:solidFill>
                <a:prstClr val="black"/>
              </a:solidFill>
            </a:endParaRPr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425938" y="4343400"/>
            <a:ext cx="218176" cy="218182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409765" y="4613870"/>
            <a:ext cx="1041672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Environment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32" name="Text 21"/>
          <p:cNvSpPr/>
          <p:nvPr/>
        </p:nvSpPr>
        <p:spPr>
          <a:xfrm>
            <a:off x="2409765" y="4769148"/>
            <a:ext cx="365989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Configured Django venv with required ML libraries</a:t>
            </a:r>
            <a:endParaRPr lang="en-US" sz="700" dirty="0">
              <a:solidFill>
                <a:prstClr val="black"/>
              </a:solidFill>
            </a:endParaRPr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=""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21941" y="4327227"/>
            <a:ext cx="234349" cy="234355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121941" y="4613870"/>
            <a:ext cx="1041672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Inference Logic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35" name="Text 23"/>
          <p:cNvSpPr/>
          <p:nvPr/>
        </p:nvSpPr>
        <p:spPr>
          <a:xfrm>
            <a:off x="6121941" y="4769148"/>
            <a:ext cx="365989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Integrated real-time inference in views.py — processes CGPA &amp; Attendance inputs</a:t>
            </a:r>
            <a:endParaRPr lang="en-US" sz="700" dirty="0">
              <a:solidFill>
                <a:prstClr val="black"/>
              </a:solidFill>
            </a:endParaRPr>
          </a:p>
        </p:txBody>
      </p:sp>
      <p:pic>
        <p:nvPicPr>
          <p:cNvPr id="36" name="Image 10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=""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409765" y="4961334"/>
            <a:ext cx="234349" cy="234355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2409765" y="5247977"/>
            <a:ext cx="1041672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Live Dashboard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38" name="Text 25"/>
          <p:cNvSpPr/>
          <p:nvPr/>
        </p:nvSpPr>
        <p:spPr>
          <a:xfrm>
            <a:off x="2409765" y="5403255"/>
            <a:ext cx="365989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Dynamic placement prediction (Placed / Not Placed) surfaced on web UI</a:t>
            </a:r>
            <a:endParaRPr lang="en-US" sz="700" dirty="0">
              <a:solidFill>
                <a:prstClr val="black"/>
              </a:solidFill>
            </a:endParaRPr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=""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121941" y="4961334"/>
            <a:ext cx="234349" cy="234355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6121941" y="5247977"/>
            <a:ext cx="1041672" cy="130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8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Version Control</a:t>
            </a:r>
            <a:endParaRPr lang="en-US" sz="800" dirty="0">
              <a:solidFill>
                <a:prstClr val="black"/>
              </a:solidFill>
            </a:endParaRPr>
          </a:p>
        </p:txBody>
      </p:sp>
      <p:sp>
        <p:nvSpPr>
          <p:cNvPr id="41" name="Text 27"/>
          <p:cNvSpPr/>
          <p:nvPr/>
        </p:nvSpPr>
        <p:spPr>
          <a:xfrm>
            <a:off x="6121941" y="5403255"/>
            <a:ext cx="365989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Final build synchronized to GitHub — deployable snapshot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42" name="Shape 28"/>
          <p:cNvSpPr/>
          <p:nvPr/>
        </p:nvSpPr>
        <p:spPr>
          <a:xfrm>
            <a:off x="2409765" y="5558830"/>
            <a:ext cx="1811590" cy="308471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16FFBB"/>
            </a:solidFill>
            <a:prstDash val="solid"/>
          </a:ln>
        </p:spPr>
      </p:sp>
      <p:sp>
        <p:nvSpPr>
          <p:cNvPr id="43" name="Text 29"/>
          <p:cNvSpPr/>
          <p:nvPr/>
        </p:nvSpPr>
        <p:spPr>
          <a:xfrm>
            <a:off x="2509775" y="5658842"/>
            <a:ext cx="161157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Python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44" name="Shape 30"/>
          <p:cNvSpPr/>
          <p:nvPr/>
        </p:nvSpPr>
        <p:spPr>
          <a:xfrm>
            <a:off x="4263224" y="5558830"/>
            <a:ext cx="1811590" cy="308471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29DDDA"/>
            </a:solidFill>
            <a:prstDash val="solid"/>
          </a:ln>
        </p:spPr>
      </p:sp>
      <p:sp>
        <p:nvSpPr>
          <p:cNvPr id="45" name="Text 31"/>
          <p:cNvSpPr/>
          <p:nvPr/>
        </p:nvSpPr>
        <p:spPr>
          <a:xfrm>
            <a:off x="4363234" y="5658842"/>
            <a:ext cx="161157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Django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46" name="Shape 32"/>
          <p:cNvSpPr/>
          <p:nvPr/>
        </p:nvSpPr>
        <p:spPr>
          <a:xfrm>
            <a:off x="6116683" y="5558830"/>
            <a:ext cx="1811590" cy="308471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37A7E7"/>
            </a:solidFill>
            <a:prstDash val="solid"/>
          </a:ln>
        </p:spPr>
      </p:sp>
      <p:sp>
        <p:nvSpPr>
          <p:cNvPr id="47" name="Text 33"/>
          <p:cNvSpPr/>
          <p:nvPr/>
        </p:nvSpPr>
        <p:spPr>
          <a:xfrm>
            <a:off x="6216693" y="5658842"/>
            <a:ext cx="1611570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Scikit-Learn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48" name="Shape 34"/>
          <p:cNvSpPr/>
          <p:nvPr/>
        </p:nvSpPr>
        <p:spPr>
          <a:xfrm>
            <a:off x="7970142" y="5558830"/>
            <a:ext cx="1811689" cy="308471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091231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8070152" y="5658842"/>
            <a:ext cx="1611669" cy="1084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Joblib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50" name="Shape 36"/>
          <p:cNvSpPr/>
          <p:nvPr/>
        </p:nvSpPr>
        <p:spPr>
          <a:xfrm>
            <a:off x="2409765" y="6159500"/>
            <a:ext cx="3665049" cy="330200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16FFBB"/>
            </a:solidFill>
            <a:prstDash val="solid"/>
          </a:ln>
        </p:spPr>
      </p:sp>
      <p:sp>
        <p:nvSpPr>
          <p:cNvPr id="51" name="Text 37"/>
          <p:cNvSpPr/>
          <p:nvPr/>
        </p:nvSpPr>
        <p:spPr>
          <a:xfrm>
            <a:off x="2509775" y="6235700"/>
            <a:ext cx="3465029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GitHub</a:t>
            </a:r>
            <a:endParaRPr lang="en-US" sz="700" dirty="0">
              <a:solidFill>
                <a:prstClr val="black"/>
              </a:solidFill>
            </a:endParaRPr>
          </a:p>
        </p:txBody>
      </p:sp>
      <p:sp>
        <p:nvSpPr>
          <p:cNvPr id="52" name="Shape 38"/>
          <p:cNvSpPr/>
          <p:nvPr/>
        </p:nvSpPr>
        <p:spPr>
          <a:xfrm>
            <a:off x="6116683" y="6134100"/>
            <a:ext cx="3665148" cy="342900"/>
          </a:xfrm>
          <a:prstGeom prst="roundRect">
            <a:avLst>
              <a:gd name="adj" fmla="val 45590"/>
            </a:avLst>
          </a:prstGeom>
          <a:solidFill>
            <a:srgbClr val="0A081B"/>
          </a:solidFill>
          <a:ln w="6350">
            <a:solidFill>
              <a:srgbClr val="29DDDA"/>
            </a:solidFill>
            <a:prstDash val="solid"/>
          </a:ln>
        </p:spPr>
      </p:sp>
      <p:sp>
        <p:nvSpPr>
          <p:cNvPr id="53" name="Text 39"/>
          <p:cNvSpPr/>
          <p:nvPr/>
        </p:nvSpPr>
        <p:spPr>
          <a:xfrm>
            <a:off x="6216693" y="6223000"/>
            <a:ext cx="346512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700" b="1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HTML / CSS</a:t>
            </a:r>
            <a:endParaRPr lang="en-US" sz="700" dirty="0">
              <a:solidFill>
                <a:prstClr val="black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0430" y="1511200"/>
            <a:ext cx="4556470" cy="278715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536700"/>
            <a:ext cx="4597400" cy="27685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200" y="942380"/>
            <a:ext cx="594802" cy="247848"/>
          </a:xfrm>
          <a:prstGeom prst="roundRect">
            <a:avLst>
              <a:gd name="adj" fmla="val 71105"/>
            </a:avLst>
          </a:prstGeom>
          <a:noFill/>
          <a:ln/>
          <a:effectLst>
            <a:outerShdw blurRad="101600" dist="50800" dir="16200000" algn="bl" rotWithShape="0">
              <a:srgbClr val="16FFBB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22304" y="986433"/>
            <a:ext cx="1028178" cy="159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4200" y="1231305"/>
            <a:ext cx="6553532" cy="407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Backend Architecture &amp; ML Integration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34200" y="1793379"/>
            <a:ext cx="10723294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secure Django MVT foundation paired with real-time ML inference and an Explainable AI reasoning layer, built to transform student metrics into actionable placement predictions.</a:t>
            </a:r>
            <a:endParaRPr lang="en-US" sz="11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322" y="3363119"/>
            <a:ext cx="3472569" cy="14975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92213" y="3386451"/>
            <a:ext cx="3444788" cy="944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9000"/>
              </a:lnSpc>
              <a:buNone/>
            </a:pPr>
            <a:r>
              <a:rPr lang="en-US" sz="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pipeline moves from raw student data through Django's secure backend into the Joblib-loaded model, finally enriched by a custom XAI layer that converts predictions into human-readable guidance.</a:t>
            </a:r>
            <a:endParaRPr lang="en-US" sz="3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059634" y="2423815"/>
            <a:ext cx="2650662" cy="163671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1721" y="2589709"/>
            <a:ext cx="1937198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Secure MVT Architecture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301721" y="2896493"/>
            <a:ext cx="2242685" cy="99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Django Model-View-Template handles student data input with built-in authentication, CSRF protection, and role-based access control.</a:t>
            </a:r>
            <a:endParaRPr lang="en-US" sz="11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8813083" y="2423815"/>
            <a:ext cx="2650662" cy="163671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55171" y="2589709"/>
            <a:ext cx="1802958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Real-Time ML Inference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9055171" y="2896493"/>
            <a:ext cx="2242685" cy="99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</a:t>
            </a:r>
            <a:r>
              <a:rPr lang="en-US" sz="115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model.pkl</a:t>
            </a: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engine is loaded via Joblib, delivering instant placement predictions from academic and performance metrics.</a:t>
            </a:r>
            <a:endParaRPr lang="en-US" sz="11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6059634" y="4163318"/>
            <a:ext cx="2650662" cy="163671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301721" y="4329212"/>
            <a:ext cx="163548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Explainable AI Engine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6301721" y="4635996"/>
            <a:ext cx="2242685" cy="99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custom rule-based reasoning layer transforms complex ML outputs into mentorship advice — e.g., "Improve communication skills to boost placement probability."</a:t>
            </a:r>
            <a:endParaRPr lang="en-US" sz="115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13083" y="4163318"/>
            <a:ext cx="2650662" cy="163671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055171" y="4329212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Persistent Data Sync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9055171" y="4635996"/>
            <a:ext cx="2242685" cy="99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Database connections track student performance history, enabling longitudinal analytics and trend identification across cohorts.</a:t>
            </a:r>
            <a:endParaRPr lang="en-US" sz="1150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99" y="2438400"/>
            <a:ext cx="5727701" cy="3403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06086" y="903982"/>
            <a:ext cx="616629" cy="247848"/>
          </a:xfrm>
          <a:prstGeom prst="roundRect">
            <a:avLst>
              <a:gd name="adj" fmla="val 71105"/>
            </a:avLst>
          </a:prstGeom>
          <a:noFill/>
          <a:ln/>
          <a:effectLst>
            <a:outerShdw blurRad="101600" dist="50800" dir="16200000" algn="bl" rotWithShape="0">
              <a:srgbClr val="16FFBB">
                <a:alpha val="100000"/>
              </a:srgbClr>
            </a:outerShdw>
          </a:effectLst>
        </p:spPr>
      </p:sp>
      <p:sp>
        <p:nvSpPr>
          <p:cNvPr id="4" name="Text 1"/>
          <p:cNvSpPr/>
          <p:nvPr/>
        </p:nvSpPr>
        <p:spPr>
          <a:xfrm>
            <a:off x="5394190" y="948035"/>
            <a:ext cx="1050006" cy="159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900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306086" y="1192907"/>
            <a:ext cx="6151409" cy="815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Professional UI Overhaul &amp; API Connectivity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5306086" y="2162870"/>
            <a:ext cx="6151409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premium Glassmorphism frontend with seamless RESTful API integration, delivering instantaneous visual feedback across every device class.</a:t>
            </a:r>
            <a:endParaRPr lang="en-US" sz="11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306086" y="2677716"/>
            <a:ext cx="367100" cy="3671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01671" y="2677716"/>
            <a:ext cx="1779146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Glassmorphism Design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5801671" y="2943324"/>
            <a:ext cx="5655823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Migrated from basic HTML to a high-end frosted-glass interface tailored for faculty and mentors, featuring translucent panels and layered depth.</a:t>
            </a:r>
            <a:endParaRPr lang="en-US" sz="11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5306086" y="3548162"/>
            <a:ext cx="367100" cy="3671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801671" y="3548162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RESTful API Flow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5801671" y="3813770"/>
            <a:ext cx="5655823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AJAX endpoints connect directly to the prediction engine, returning results instantaneously without page reloads or interruption.</a:t>
            </a:r>
            <a:endParaRPr lang="en-US" sz="11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5306086" y="4418608"/>
            <a:ext cx="367100" cy="36710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801671" y="4418608"/>
            <a:ext cx="1900190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Dynamic Color Feedback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5801671" y="4684216"/>
            <a:ext cx="5655823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Real-time indicators signal readiness at a glance: </a:t>
            </a:r>
            <a:r>
              <a:rPr lang="en-US" sz="1150" b="1" dirty="0">
                <a:solidFill>
                  <a:srgbClr val="16FFB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Green = Placed</a:t>
            </a: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readiness, </a:t>
            </a:r>
            <a:r>
              <a:rPr lang="en-US" sz="1150" b="1" dirty="0">
                <a:solidFill>
                  <a:srgbClr val="FF4D4D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Red = Critical</a:t>
            </a: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areas requiring attention.</a:t>
            </a:r>
            <a:endParaRPr lang="en-US" sz="11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5306086" y="5289054"/>
            <a:ext cx="367100" cy="36710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801671" y="5289054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Fully Responsive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5801671" y="5554663"/>
            <a:ext cx="5655823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Layout optimized to function flawlessly across laptops, tablets, and mobile devices, ensuring mentor access anywhere on campus.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4200" y="799108"/>
            <a:ext cx="701360" cy="293886"/>
          </a:xfrm>
          <a:prstGeom prst="roundRect">
            <a:avLst>
              <a:gd name="adj" fmla="val 68533"/>
            </a:avLst>
          </a:prstGeom>
          <a:noFill/>
          <a:ln/>
          <a:effectLst>
            <a:outerShdw blurRad="101600" dist="50800" dir="16200000" algn="bl" rotWithShape="0">
              <a:srgbClr val="16FFBB">
                <a:alpha val="1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34806" y="849412"/>
            <a:ext cx="1109734" cy="193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16FFB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PHASE 3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34200" y="1146671"/>
            <a:ext cx="7407487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Quality Assurance &amp; Project Readiness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734200" y="1814116"/>
            <a:ext cx="10723294" cy="483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Rigorous validation across model performance, bug resolution, and API reliability — the application is fully optimized, stable, and ready for institutional demonstration.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3355" y="2448520"/>
            <a:ext cx="4062708" cy="3610273"/>
          </a:xfrm>
          <a:prstGeom prst="roundRect">
            <a:avLst>
              <a:gd name="adj" fmla="val 11157"/>
            </a:avLst>
          </a:prstGeom>
          <a:solidFill>
            <a:srgbClr val="091231">
              <a:alpha val="7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81130" y="2582763"/>
            <a:ext cx="4336743" cy="1398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8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94%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1407482" y="4115693"/>
            <a:ext cx="2474454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Prediction Accuracy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1130" y="4483100"/>
            <a:ext cx="3727158" cy="5798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Achieved through rigorous testing and fine-tuning of the Random Forest classifier across diverse student profiles and edge cases.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970933" y="2599531"/>
            <a:ext cx="2074711" cy="2191246"/>
          </a:xfrm>
          <a:prstGeom prst="roundRect">
            <a:avLst>
              <a:gd name="adj" fmla="val 12135"/>
            </a:avLst>
          </a:prstGeom>
          <a:solidFill>
            <a:srgbClr val="0A081B"/>
          </a:solidFill>
          <a:ln w="19050">
            <a:solidFill>
              <a:srgbClr val="16FF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57758" y="2786360"/>
            <a:ext cx="1701063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Bug Resolution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57758" y="3153767"/>
            <a:ext cx="1701063" cy="1450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Exhaustive smoke testing resolved all critical logic, navigation, and input-handling errors before final submission.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79884" y="2599531"/>
            <a:ext cx="2074811" cy="2191246"/>
          </a:xfrm>
          <a:prstGeom prst="roundRect">
            <a:avLst>
              <a:gd name="adj" fmla="val 12134"/>
            </a:avLst>
          </a:prstGeom>
          <a:solidFill>
            <a:srgbClr val="0A081B"/>
          </a:solidFill>
          <a:ln w="19050">
            <a:solidFill>
              <a:srgbClr val="29DD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6709" y="2786360"/>
            <a:ext cx="1701162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API Validation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66709" y="3153767"/>
            <a:ext cx="1701162" cy="1450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Verified backend reliability and request handling via Postman for both single-student and bulk-data scenarios.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388935" y="2599531"/>
            <a:ext cx="2074811" cy="2191246"/>
          </a:xfrm>
          <a:prstGeom prst="roundRect">
            <a:avLst>
              <a:gd name="adj" fmla="val 12134"/>
            </a:avLst>
          </a:prstGeom>
          <a:solidFill>
            <a:srgbClr val="0A081B"/>
          </a:solidFill>
          <a:ln w="19050">
            <a:solidFill>
              <a:srgbClr val="37A7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75759" y="2786360"/>
            <a:ext cx="1701162" cy="466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Final Documentation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575759" y="3386931"/>
            <a:ext cx="1701162" cy="1208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Compiled the project report, finalized demo slides, and packaged the entire codebase for formal submission.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70933" y="4925020"/>
            <a:ext cx="6492812" cy="982762"/>
          </a:xfrm>
          <a:prstGeom prst="roundRect">
            <a:avLst>
              <a:gd name="adj" fmla="val 25618"/>
            </a:avLst>
          </a:prstGeom>
          <a:solidFill>
            <a:srgbClr val="0A081B"/>
          </a:solidFill>
          <a:ln w="19050">
            <a:solidFill>
              <a:srgbClr val="0912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57758" y="5111849"/>
            <a:ext cx="1864869" cy="2331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Deployment Status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57758" y="5479256"/>
            <a:ext cx="6119163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Fully optimized, stable, and ready for institutional demonstration.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1243</Words>
  <Application>Microsoft Office PowerPoint</Application>
  <PresentationFormat>Custom</PresentationFormat>
  <Paragraphs>137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Barlow</vt:lpstr>
      <vt:lpstr>Spline Sans Bold</vt:lpstr>
      <vt:lpstr>Calibri</vt:lpstr>
      <vt:lpstr>Barlow Bold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13</cp:revision>
  <dcterms:created xsi:type="dcterms:W3CDTF">2026-06-10T15:00:24Z</dcterms:created>
  <dcterms:modified xsi:type="dcterms:W3CDTF">2026-06-29T14:55:41Z</dcterms:modified>
</cp:coreProperties>
</file>